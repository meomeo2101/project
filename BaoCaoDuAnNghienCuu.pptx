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Gliker" panose="020B0604020202020204" charset="0"/>
      <p:regular r:id="rId12"/>
    </p:embeddedFont>
    <p:embeddedFont>
      <p:font typeface="Times New Roman Bold" panose="02020803070505020304" pitchFamily="18" charset="0"/>
      <p:bold r:id="rId13"/>
    </p:embeddedFont>
    <p:embeddedFont>
      <p:font typeface="Times New Roman Italics" panose="020B0604020202020204" charset="0"/>
      <p:regular r:id="rId14"/>
    </p:embeddedFont>
    <p:embeddedFont>
      <p:font typeface="Varela Round" panose="00000500000000000000" pitchFamily="2" charset="-79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2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1266B-A8DB-4B93-A9FF-40671244019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05633-9698-43A8-A27B-B548A15E8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7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05633-9698-43A8-A27B-B548A15E80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11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rAxlTbg6u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82206">
            <a:off x="-133552" y="2376101"/>
            <a:ext cx="3646515" cy="3547065"/>
          </a:xfrm>
          <a:custGeom>
            <a:avLst/>
            <a:gdLst/>
            <a:ahLst/>
            <a:cxnLst/>
            <a:rect l="l" t="t" r="r" b="b"/>
            <a:pathLst>
              <a:path w="3646515" h="3547065">
                <a:moveTo>
                  <a:pt x="0" y="0"/>
                </a:moveTo>
                <a:lnTo>
                  <a:pt x="3646515" y="0"/>
                </a:lnTo>
                <a:lnTo>
                  <a:pt x="3646515" y="3547065"/>
                </a:lnTo>
                <a:lnTo>
                  <a:pt x="0" y="3547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999307">
            <a:off x="13617114" y="-667259"/>
            <a:ext cx="3723411" cy="3842169"/>
          </a:xfrm>
          <a:custGeom>
            <a:avLst/>
            <a:gdLst/>
            <a:ahLst/>
            <a:cxnLst/>
            <a:rect l="l" t="t" r="r" b="b"/>
            <a:pathLst>
              <a:path w="3723411" h="3842169">
                <a:moveTo>
                  <a:pt x="0" y="0"/>
                </a:moveTo>
                <a:lnTo>
                  <a:pt x="3723411" y="0"/>
                </a:lnTo>
                <a:lnTo>
                  <a:pt x="3723411" y="3842169"/>
                </a:lnTo>
                <a:lnTo>
                  <a:pt x="0" y="3842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61922">
            <a:off x="14832834" y="3616651"/>
            <a:ext cx="3134767" cy="3676166"/>
          </a:xfrm>
          <a:custGeom>
            <a:avLst/>
            <a:gdLst/>
            <a:ahLst/>
            <a:cxnLst/>
            <a:rect l="l" t="t" r="r" b="b"/>
            <a:pathLst>
              <a:path w="3134767" h="3676166">
                <a:moveTo>
                  <a:pt x="0" y="0"/>
                </a:moveTo>
                <a:lnTo>
                  <a:pt x="3134767" y="0"/>
                </a:lnTo>
                <a:lnTo>
                  <a:pt x="3134767" y="3676165"/>
                </a:lnTo>
                <a:lnTo>
                  <a:pt x="0" y="3676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95800">
            <a:off x="1290351" y="7186679"/>
            <a:ext cx="4770192" cy="3087615"/>
          </a:xfrm>
          <a:custGeom>
            <a:avLst/>
            <a:gdLst/>
            <a:ahLst/>
            <a:cxnLst/>
            <a:rect l="l" t="t" r="r" b="b"/>
            <a:pathLst>
              <a:path w="4770192" h="3087615">
                <a:moveTo>
                  <a:pt x="0" y="0"/>
                </a:moveTo>
                <a:lnTo>
                  <a:pt x="4770191" y="0"/>
                </a:lnTo>
                <a:lnTo>
                  <a:pt x="4770191" y="3087615"/>
                </a:lnTo>
                <a:lnTo>
                  <a:pt x="0" y="30876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64510" y="293587"/>
            <a:ext cx="2821872" cy="2693605"/>
          </a:xfrm>
          <a:custGeom>
            <a:avLst/>
            <a:gdLst/>
            <a:ahLst/>
            <a:cxnLst/>
            <a:rect l="l" t="t" r="r" b="b"/>
            <a:pathLst>
              <a:path w="2821872" h="2693605">
                <a:moveTo>
                  <a:pt x="0" y="0"/>
                </a:moveTo>
                <a:lnTo>
                  <a:pt x="2821872" y="0"/>
                </a:lnTo>
                <a:lnTo>
                  <a:pt x="2821872" y="2693605"/>
                </a:lnTo>
                <a:lnTo>
                  <a:pt x="0" y="26936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73857">
            <a:off x="12332926" y="7411292"/>
            <a:ext cx="3268273" cy="2638388"/>
          </a:xfrm>
          <a:custGeom>
            <a:avLst/>
            <a:gdLst/>
            <a:ahLst/>
            <a:cxnLst/>
            <a:rect l="l" t="t" r="r" b="b"/>
            <a:pathLst>
              <a:path w="3268273" h="2638388">
                <a:moveTo>
                  <a:pt x="0" y="0"/>
                </a:moveTo>
                <a:lnTo>
                  <a:pt x="3268272" y="0"/>
                </a:lnTo>
                <a:lnTo>
                  <a:pt x="3268272" y="2638388"/>
                </a:lnTo>
                <a:lnTo>
                  <a:pt x="0" y="2638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4405" y="1764644"/>
            <a:ext cx="10267167" cy="784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5"/>
              </a:lnSpc>
              <a:spcBef>
                <a:spcPct val="0"/>
              </a:spcBef>
            </a:pPr>
            <a:r>
              <a:rPr lang="en-US" sz="8154" b="1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CÔNG CỤ ĐA PHƯƠNG TIỆN ĐANG THAY ĐỔI GIÁO DỤC NHƯ THẾ NÀO</a:t>
            </a:r>
          </a:p>
          <a:p>
            <a:pPr algn="ctr">
              <a:lnSpc>
                <a:spcPts val="13744"/>
              </a:lnSpc>
              <a:spcBef>
                <a:spcPct val="0"/>
              </a:spcBef>
            </a:pPr>
            <a:endParaRPr lang="en-US" sz="8154" dirty="0">
              <a:solidFill>
                <a:srgbClr val="1C3D8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420148" y="6781997"/>
            <a:ext cx="7447703" cy="1124231"/>
            <a:chOff x="0" y="0"/>
            <a:chExt cx="3183085" cy="4804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83085" cy="480487"/>
            </a:xfrm>
            <a:custGeom>
              <a:avLst/>
              <a:gdLst/>
              <a:ahLst/>
              <a:cxnLst/>
              <a:rect l="l" t="t" r="r" b="b"/>
              <a:pathLst>
                <a:path w="3183085" h="480487">
                  <a:moveTo>
                    <a:pt x="2979885" y="0"/>
                  </a:moveTo>
                  <a:cubicBezTo>
                    <a:pt x="3092109" y="0"/>
                    <a:pt x="3183085" y="107561"/>
                    <a:pt x="3183085" y="240243"/>
                  </a:cubicBezTo>
                  <a:cubicBezTo>
                    <a:pt x="3183085" y="372926"/>
                    <a:pt x="3092109" y="480487"/>
                    <a:pt x="2979885" y="480487"/>
                  </a:cubicBezTo>
                  <a:lnTo>
                    <a:pt x="203200" y="480487"/>
                  </a:lnTo>
                  <a:cubicBezTo>
                    <a:pt x="90976" y="480487"/>
                    <a:pt x="0" y="372926"/>
                    <a:pt x="0" y="240243"/>
                  </a:cubicBezTo>
                  <a:cubicBezTo>
                    <a:pt x="0" y="10756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1C3D86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83085" cy="518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30121" y="1253826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798748" y="8903621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167549" y="1108561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967099" y="8581312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627093" y="7071149"/>
            <a:ext cx="7033813" cy="54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605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Nền tảng công nghệ số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30937" y="9543555"/>
            <a:ext cx="257532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01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2373" y="2770699"/>
            <a:ext cx="8571627" cy="5602133"/>
            <a:chOff x="0" y="0"/>
            <a:chExt cx="2257548" cy="14754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7548" cy="1475459"/>
            </a:xfrm>
            <a:custGeom>
              <a:avLst/>
              <a:gdLst/>
              <a:ahLst/>
              <a:cxnLst/>
              <a:rect l="l" t="t" r="r" b="b"/>
              <a:pathLst>
                <a:path w="2257548" h="1475459">
                  <a:moveTo>
                    <a:pt x="19870" y="0"/>
                  </a:moveTo>
                  <a:lnTo>
                    <a:pt x="2237677" y="0"/>
                  </a:lnTo>
                  <a:cubicBezTo>
                    <a:pt x="2248652" y="0"/>
                    <a:pt x="2257548" y="8896"/>
                    <a:pt x="2257548" y="19870"/>
                  </a:cubicBezTo>
                  <a:lnTo>
                    <a:pt x="2257548" y="1455588"/>
                  </a:lnTo>
                  <a:cubicBezTo>
                    <a:pt x="2257548" y="1460858"/>
                    <a:pt x="2255454" y="1465912"/>
                    <a:pt x="2251728" y="1469639"/>
                  </a:cubicBezTo>
                  <a:cubicBezTo>
                    <a:pt x="2248002" y="1473365"/>
                    <a:pt x="2242947" y="1475459"/>
                    <a:pt x="2237677" y="1475459"/>
                  </a:cubicBezTo>
                  <a:lnTo>
                    <a:pt x="19870" y="1475459"/>
                  </a:lnTo>
                  <a:cubicBezTo>
                    <a:pt x="8896" y="1475459"/>
                    <a:pt x="0" y="1466563"/>
                    <a:pt x="0" y="1455588"/>
                  </a:cubicBezTo>
                  <a:lnTo>
                    <a:pt x="0" y="19870"/>
                  </a:lnTo>
                  <a:cubicBezTo>
                    <a:pt x="0" y="8896"/>
                    <a:pt x="8896" y="0"/>
                    <a:pt x="19870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57548" cy="1513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839069" y="2770699"/>
            <a:ext cx="7393270" cy="4931253"/>
          </a:xfrm>
          <a:custGeom>
            <a:avLst/>
            <a:gdLst/>
            <a:ahLst/>
            <a:cxnLst/>
            <a:rect l="l" t="t" r="r" b="b"/>
            <a:pathLst>
              <a:path w="7393270" h="4931253">
                <a:moveTo>
                  <a:pt x="0" y="0"/>
                </a:moveTo>
                <a:lnTo>
                  <a:pt x="7393270" y="0"/>
                </a:lnTo>
                <a:lnTo>
                  <a:pt x="7393270" y="4931254"/>
                </a:lnTo>
                <a:lnTo>
                  <a:pt x="0" y="4931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09612" y="521396"/>
            <a:ext cx="902609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Tổng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chủ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</a:t>
            </a:r>
            <a:endParaRPr lang="en-US" sz="92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0715" y="3068415"/>
            <a:ext cx="7952259" cy="490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90"/>
              </a:lnSpc>
            </a:pP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cụ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tiện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ngoặt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giáo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dục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thụ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sang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tương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63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463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90039" y="9543555"/>
            <a:ext cx="339328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4348" y="7702054"/>
            <a:ext cx="6728060" cy="78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Lớp học tương tác kỹ thuật số hiện đại. Nguồn: Ariel Skelley / Getty Images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21974" y="1320800"/>
            <a:ext cx="1164405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Bối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cảnh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nghiên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cứu</a:t>
            </a:r>
            <a:endParaRPr lang="en-US" sz="92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73757" y="2850268"/>
            <a:ext cx="7949910" cy="5249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7"/>
              </a:lnSpc>
            </a:pP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trạng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dạy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cũ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just">
              <a:lnSpc>
                <a:spcPts val="5187"/>
              </a:lnSpc>
            </a:pP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nghệ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dạy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đen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in,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thầy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đọc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trò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chép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còn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đủ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hút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nay 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quá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thuộc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điện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thoại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máy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nhỏ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ctr">
              <a:lnSpc>
                <a:spcPts val="5187"/>
              </a:lnSpc>
            </a:pPr>
            <a:endParaRPr lang="en-US" sz="3705" dirty="0">
              <a:solidFill>
                <a:srgbClr val="1C3D8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08086" y="2840743"/>
            <a:ext cx="7949910" cy="456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7"/>
              </a:lnSpc>
            </a:pP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xuất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tiện</a:t>
            </a:r>
            <a:r>
              <a:rPr lang="en-US" sz="36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just">
              <a:lnSpc>
                <a:spcPts val="5187"/>
              </a:lnSpc>
            </a:pP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video,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3D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cụ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ngoặt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dễ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hiểu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thú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dạy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705" dirty="0" err="1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705" dirty="0">
                <a:solidFill>
                  <a:srgbClr val="1C3D8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ctr">
              <a:lnSpc>
                <a:spcPts val="5047"/>
              </a:lnSpc>
            </a:pPr>
            <a:endParaRPr lang="en-US" sz="3705" dirty="0">
              <a:solidFill>
                <a:srgbClr val="1C3D8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92837" y="9543555"/>
            <a:ext cx="333732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03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2618403"/>
            <a:ext cx="7628813" cy="5564865"/>
            <a:chOff x="0" y="0"/>
            <a:chExt cx="2009235" cy="14656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9235" cy="1465643"/>
            </a:xfrm>
            <a:custGeom>
              <a:avLst/>
              <a:gdLst/>
              <a:ahLst/>
              <a:cxnLst/>
              <a:rect l="l" t="t" r="r" b="b"/>
              <a:pathLst>
                <a:path w="2009235" h="1465643">
                  <a:moveTo>
                    <a:pt x="22326" y="0"/>
                  </a:moveTo>
                  <a:lnTo>
                    <a:pt x="1986909" y="0"/>
                  </a:lnTo>
                  <a:cubicBezTo>
                    <a:pt x="1992830" y="0"/>
                    <a:pt x="1998509" y="2352"/>
                    <a:pt x="2002696" y="6539"/>
                  </a:cubicBezTo>
                  <a:cubicBezTo>
                    <a:pt x="2006883" y="10726"/>
                    <a:pt x="2009235" y="16405"/>
                    <a:pt x="2009235" y="22326"/>
                  </a:cubicBezTo>
                  <a:lnTo>
                    <a:pt x="2009235" y="1443317"/>
                  </a:lnTo>
                  <a:cubicBezTo>
                    <a:pt x="2009235" y="1455648"/>
                    <a:pt x="1999239" y="1465643"/>
                    <a:pt x="1986909" y="1465643"/>
                  </a:cubicBezTo>
                  <a:lnTo>
                    <a:pt x="22326" y="1465643"/>
                  </a:lnTo>
                  <a:cubicBezTo>
                    <a:pt x="9996" y="1465643"/>
                    <a:pt x="0" y="1455648"/>
                    <a:pt x="0" y="1443317"/>
                  </a:cubicBezTo>
                  <a:lnTo>
                    <a:pt x="0" y="22326"/>
                  </a:lnTo>
                  <a:cubicBezTo>
                    <a:pt x="0" y="9996"/>
                    <a:pt x="9996" y="0"/>
                    <a:pt x="2232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09235" cy="1503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706514">
            <a:off x="-1075787" y="375674"/>
            <a:ext cx="3236001" cy="2735891"/>
          </a:xfrm>
          <a:custGeom>
            <a:avLst/>
            <a:gdLst/>
            <a:ahLst/>
            <a:cxnLst/>
            <a:rect l="l" t="t" r="r" b="b"/>
            <a:pathLst>
              <a:path w="3236001" h="2735891">
                <a:moveTo>
                  <a:pt x="0" y="0"/>
                </a:moveTo>
                <a:lnTo>
                  <a:pt x="3236001" y="0"/>
                </a:lnTo>
                <a:lnTo>
                  <a:pt x="3236001" y="2735892"/>
                </a:lnTo>
                <a:lnTo>
                  <a:pt x="0" y="2735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16765">
            <a:off x="5728675" y="7355735"/>
            <a:ext cx="3250151" cy="3232423"/>
          </a:xfrm>
          <a:custGeom>
            <a:avLst/>
            <a:gdLst/>
            <a:ahLst/>
            <a:cxnLst/>
            <a:rect l="l" t="t" r="r" b="b"/>
            <a:pathLst>
              <a:path w="3250151" h="3232423">
                <a:moveTo>
                  <a:pt x="0" y="0"/>
                </a:moveTo>
                <a:lnTo>
                  <a:pt x="3250151" y="0"/>
                </a:lnTo>
                <a:lnTo>
                  <a:pt x="3250151" y="3232423"/>
                </a:lnTo>
                <a:lnTo>
                  <a:pt x="0" y="3232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90585" y="1672625"/>
            <a:ext cx="6822215" cy="844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Định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nghĩa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về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Đa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phương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tiện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trong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Giáo</a:t>
            </a:r>
            <a:r>
              <a:rPr lang="en-US" sz="92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92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dục</a:t>
            </a:r>
            <a:endParaRPr lang="en-US" sz="92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11064"/>
              </a:lnSpc>
              <a:spcBef>
                <a:spcPct val="0"/>
              </a:spcBef>
            </a:pPr>
            <a:endParaRPr lang="en-US" sz="92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59972" y="2737291"/>
            <a:ext cx="7342961" cy="571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7"/>
              </a:lnSpc>
            </a:pP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Trong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bối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cảnh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giáo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dục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hiện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đại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,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Đa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phương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tiện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(Multimedia)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được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hiểu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là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sự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kết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hợp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đồng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thời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của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nhiều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dạng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phương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tiện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truyền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thông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khác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nhau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trên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cùng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một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nền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tảng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kỹ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thuật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số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nhằm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truyền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tải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thông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tin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một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cách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hiệu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quả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605" dirty="0" err="1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nhất</a:t>
            </a:r>
            <a:r>
              <a:rPr lang="en-US" sz="3605" dirty="0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algn="just">
              <a:lnSpc>
                <a:spcPts val="5047"/>
              </a:lnSpc>
            </a:pPr>
            <a:endParaRPr lang="en-US" sz="3605" dirty="0">
              <a:solidFill>
                <a:srgbClr val="1C3D8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5247497" y="17202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85233" y="8548999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12800" y="1437775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368604" y="8797944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584443" y="9543555"/>
            <a:ext cx="350520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04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197680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2364287" y="4139298"/>
            <a:ext cx="13559427" cy="5422447"/>
          </a:xfrm>
          <a:custGeom>
            <a:avLst/>
            <a:gdLst/>
            <a:ahLst/>
            <a:cxnLst/>
            <a:rect l="l" t="t" r="r" b="b"/>
            <a:pathLst>
              <a:path w="13559427" h="5422447">
                <a:moveTo>
                  <a:pt x="0" y="0"/>
                </a:moveTo>
                <a:lnTo>
                  <a:pt x="13559426" y="0"/>
                </a:lnTo>
                <a:lnTo>
                  <a:pt x="13559426" y="5422447"/>
                </a:lnTo>
                <a:lnTo>
                  <a:pt x="0" y="5422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134586" y="65908"/>
            <a:ext cx="1185163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Điểm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nổi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bật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nghiên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cứu</a:t>
            </a:r>
            <a:endParaRPr lang="en-US" sz="81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777" y="1443422"/>
            <a:ext cx="12872824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</a:t>
            </a:r>
            <a:r>
              <a:rPr lang="en-US" sz="32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Sự</a:t>
            </a:r>
            <a:r>
              <a:rPr lang="en-US" sz="32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2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Dịch</a:t>
            </a:r>
            <a:r>
              <a:rPr lang="en-US" sz="32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2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Chuyển</a:t>
            </a:r>
            <a:r>
              <a:rPr lang="en-US" sz="32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Phương Pháp </a:t>
            </a:r>
            <a:r>
              <a:rPr lang="en-US" sz="32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Giảng</a:t>
            </a:r>
            <a:r>
              <a:rPr lang="en-US" sz="32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2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Dạy</a:t>
            </a:r>
            <a:endParaRPr lang="en-US" sz="3299" b="1" dirty="0">
              <a:solidFill>
                <a:srgbClr val="1B418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59"/>
              </a:lnSpc>
              <a:spcBef>
                <a:spcPct val="0"/>
              </a:spcBef>
            </a:pPr>
            <a:endParaRPr lang="en-US" sz="3299" b="1" dirty="0">
              <a:solidFill>
                <a:srgbClr val="1B418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600" y="1948247"/>
            <a:ext cx="17257173" cy="228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dạy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sang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tiện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+Phương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đen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nói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nghe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thụ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tiện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video,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phỏng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3D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tương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83480" y="9390295"/>
            <a:ext cx="991302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Môi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trường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học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tập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tích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hợp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công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nghệ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đa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phương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tiện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.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Nguồn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: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Khafizh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Amrullah / Getty Images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89503" y="9543555"/>
            <a:ext cx="340400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05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891788" y="-5084273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19609" y="2771814"/>
            <a:ext cx="12048781" cy="6572063"/>
          </a:xfrm>
          <a:custGeom>
            <a:avLst/>
            <a:gdLst/>
            <a:ahLst/>
            <a:cxnLst/>
            <a:rect l="l" t="t" r="r" b="b"/>
            <a:pathLst>
              <a:path w="12048781" h="6572063">
                <a:moveTo>
                  <a:pt x="0" y="0"/>
                </a:moveTo>
                <a:lnTo>
                  <a:pt x="12048782" y="0"/>
                </a:lnTo>
                <a:lnTo>
                  <a:pt x="12048782" y="6572062"/>
                </a:lnTo>
                <a:lnTo>
                  <a:pt x="0" y="657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-134586" y="65908"/>
            <a:ext cx="1185163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Điểm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nổi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bật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nghiên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cứu</a:t>
            </a:r>
            <a:endParaRPr lang="en-US" sz="81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2000" y="1392235"/>
            <a:ext cx="12872824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Công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Cụ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Đa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Phương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Tiện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Phổ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Biến</a:t>
            </a:r>
            <a:endParaRPr lang="en-US" sz="3199" b="1" dirty="0">
              <a:solidFill>
                <a:srgbClr val="1B418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5874" y="1996553"/>
            <a:ext cx="1725717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cụ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590634" y="9543555"/>
            <a:ext cx="338138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06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891788" y="-5084273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34586" y="65908"/>
            <a:ext cx="1185163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Điểm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nổi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bật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nghiên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cứu</a:t>
            </a:r>
            <a:endParaRPr lang="en-US" sz="81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2039844" y="1304158"/>
            <a:ext cx="1287282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Giá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Tác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Động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Cơ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Hội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&amp;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Thách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Thức</a:t>
            </a:r>
            <a:endParaRPr lang="en-US" sz="3199" b="1" dirty="0">
              <a:solidFill>
                <a:srgbClr val="1B418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5414" y="1799458"/>
            <a:ext cx="17257173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Nghiên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mặt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nghệ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cực</a:t>
            </a:r>
            <a:endParaRPr lang="en-US" sz="34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42" lvl="1" indent="-377821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Học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tùy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thích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55642" lvl="1" indent="-377821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nhớ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lâu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căng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thẳng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55642" lvl="1" indent="-377821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bỏ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khoảng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xa qua internet.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Rào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Thách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endParaRPr lang="en-US" sz="34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42" lvl="1" indent="-377821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Xao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nhãng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rườm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rà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hiệu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thừa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mất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cốt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lõi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55642" lvl="1" indent="-377821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Bất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đẳng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Rào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vùng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sâu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vùng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xa.</a:t>
            </a:r>
          </a:p>
          <a:p>
            <a:pPr marL="755642" lvl="1" indent="-377821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Rủi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quyền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chưa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chứng</a:t>
            </a:r>
            <a:r>
              <a:rPr lang="en-US" sz="3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34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5414" y="6542908"/>
            <a:ext cx="1287282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Tóm</a:t>
            </a:r>
            <a:r>
              <a:rPr lang="en-US" sz="3199" b="1" dirty="0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199" b="1" dirty="0" err="1">
                <a:solidFill>
                  <a:srgbClr val="1B418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lại</a:t>
            </a:r>
            <a:endParaRPr lang="en-US" sz="3199" b="1" dirty="0">
              <a:solidFill>
                <a:srgbClr val="1B418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598671" y="9543555"/>
            <a:ext cx="322064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8098" y="7232772"/>
            <a:ext cx="15584210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Nền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tảng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thuyết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xu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hoạt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dục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phù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Nền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tảng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lý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thuyết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mẻ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sâu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nghệ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mới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trí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tuệ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ưu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hiệu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Sư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hoạt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tuột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hậu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nâng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kiện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xu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đào</a:t>
            </a: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tạo</a:t>
            </a: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1AC3-E288-B8AB-5AB9-88542FE3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3" highlightClick="1"/>
            <a:extLst>
              <a:ext uri="{FF2B5EF4-FFF2-40B4-BE49-F238E27FC236}">
                <a16:creationId xmlns:a16="http://schemas.microsoft.com/office/drawing/2014/main" id="{30DF4CA3-575E-20DF-A7DD-B7C879AF1D1A}"/>
              </a:ext>
            </a:extLst>
          </p:cNvPr>
          <p:cNvSpPr/>
          <p:nvPr/>
        </p:nvSpPr>
        <p:spPr>
          <a:xfrm rot="-5400000">
            <a:off x="4891788" y="-5084273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B887360-9E64-CC60-51F3-290F52BA02D3}"/>
              </a:ext>
            </a:extLst>
          </p:cNvPr>
          <p:cNvSpPr txBox="1"/>
          <p:nvPr/>
        </p:nvSpPr>
        <p:spPr>
          <a:xfrm>
            <a:off x="-134586" y="65908"/>
            <a:ext cx="1185163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vi-VN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óm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tắt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giá</a:t>
            </a:r>
            <a:r>
              <a:rPr lang="en-US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CRAAP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F0112F0-6B0A-0F43-7530-1E36BE58BF70}"/>
              </a:ext>
            </a:extLst>
          </p:cNvPr>
          <p:cNvSpPr txBox="1"/>
          <p:nvPr/>
        </p:nvSpPr>
        <p:spPr>
          <a:xfrm>
            <a:off x="17598671" y="9543555"/>
            <a:ext cx="322064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2AD13-2122-3C16-DF9F-6B2E5B61D9CB}"/>
              </a:ext>
            </a:extLst>
          </p:cNvPr>
          <p:cNvSpPr txBox="1"/>
          <p:nvPr/>
        </p:nvSpPr>
        <p:spPr>
          <a:xfrm>
            <a:off x="381000" y="1387161"/>
            <a:ext cx="164592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500" b="1" dirty="0" err="1">
                <a:effectLst/>
                <a:latin typeface="+mn-lt"/>
              </a:rPr>
              <a:t>Tóm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tắt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đánh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giá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chung</a:t>
            </a:r>
            <a:endParaRPr lang="en-US" sz="3500" b="1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3500" b="1" dirty="0" err="1">
                <a:effectLst/>
                <a:latin typeface="+mn-lt"/>
              </a:rPr>
              <a:t>Điểm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số</a:t>
            </a:r>
            <a:r>
              <a:rPr lang="en-US" sz="3500" b="1" dirty="0">
                <a:effectLst/>
                <a:latin typeface="+mn-lt"/>
              </a:rPr>
              <a:t> &amp; </a:t>
            </a:r>
            <a:r>
              <a:rPr lang="en-US" sz="3500" b="1" dirty="0" err="1">
                <a:effectLst/>
                <a:latin typeface="+mn-lt"/>
              </a:rPr>
              <a:t>Độ</a:t>
            </a:r>
            <a:r>
              <a:rPr lang="en-US" sz="3500" b="1" dirty="0">
                <a:effectLst/>
                <a:latin typeface="+mn-lt"/>
              </a:rPr>
              <a:t> tin </a:t>
            </a:r>
            <a:r>
              <a:rPr lang="en-US" sz="3500" b="1" dirty="0" err="1">
                <a:effectLst/>
                <a:latin typeface="+mn-lt"/>
              </a:rPr>
              <a:t>cậy</a:t>
            </a:r>
            <a:r>
              <a:rPr lang="en-US" sz="3500" b="1" dirty="0">
                <a:effectLst/>
                <a:latin typeface="+mn-lt"/>
              </a:rPr>
              <a:t>: </a:t>
            </a:r>
            <a:r>
              <a:rPr lang="en-US" sz="3500" dirty="0" err="1">
                <a:effectLst/>
                <a:latin typeface="+mn-lt"/>
              </a:rPr>
              <a:t>Tất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cả</a:t>
            </a:r>
            <a:r>
              <a:rPr lang="en-US" sz="3500" dirty="0">
                <a:effectLst/>
                <a:latin typeface="+mn-lt"/>
              </a:rPr>
              <a:t> 5 </a:t>
            </a:r>
            <a:r>
              <a:rPr lang="en-US" sz="3500" dirty="0" err="1">
                <a:effectLst/>
                <a:latin typeface="+mn-lt"/>
              </a:rPr>
              <a:t>nguồn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tài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liệu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đều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đạt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điểm</a:t>
            </a:r>
            <a:r>
              <a:rPr lang="en-US" sz="3500" dirty="0">
                <a:effectLst/>
                <a:latin typeface="+mn-lt"/>
              </a:rPr>
              <a:t> CRAAP </a:t>
            </a:r>
            <a:r>
              <a:rPr lang="en-US" sz="3500" dirty="0" err="1">
                <a:effectLst/>
                <a:latin typeface="+mn-lt"/>
              </a:rPr>
              <a:t>rất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cao</a:t>
            </a:r>
            <a:r>
              <a:rPr lang="en-US" sz="3500" dirty="0">
                <a:effectLst/>
                <a:latin typeface="+mn-lt"/>
              </a:rPr>
              <a:t> (</a:t>
            </a:r>
            <a:r>
              <a:rPr lang="en-US" sz="3500" dirty="0" err="1">
                <a:effectLst/>
                <a:latin typeface="+mn-lt"/>
              </a:rPr>
              <a:t>từ</a:t>
            </a:r>
            <a:r>
              <a:rPr lang="en-US" sz="3500" dirty="0">
                <a:effectLst/>
                <a:latin typeface="+mn-lt"/>
              </a:rPr>
              <a:t> 20/25 </a:t>
            </a:r>
            <a:r>
              <a:rPr lang="en-US" sz="3500" dirty="0" err="1">
                <a:effectLst/>
                <a:latin typeface="+mn-lt"/>
              </a:rPr>
              <a:t>đến</a:t>
            </a:r>
            <a:r>
              <a:rPr lang="en-US" sz="3500" dirty="0">
                <a:effectLst/>
                <a:latin typeface="+mn-lt"/>
              </a:rPr>
              <a:t> 25/25), </a:t>
            </a:r>
            <a:r>
              <a:rPr lang="en-US" sz="3500" dirty="0" err="1">
                <a:effectLst/>
                <a:latin typeface="+mn-lt"/>
              </a:rPr>
              <a:t>cho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thấy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nguồn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tài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liệu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tham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khảo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có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độ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uy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tín</a:t>
            </a:r>
            <a:r>
              <a:rPr lang="en-US" sz="3500" dirty="0">
                <a:effectLst/>
                <a:latin typeface="+mn-lt"/>
              </a:rPr>
              <a:t>, </a:t>
            </a:r>
            <a:r>
              <a:rPr lang="en-US" sz="3500" dirty="0" err="1">
                <a:effectLst/>
                <a:latin typeface="+mn-lt"/>
              </a:rPr>
              <a:t>tính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cập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nhật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và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giá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trị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học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thuật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xuất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sắc</a:t>
            </a:r>
            <a:r>
              <a:rPr lang="en-US" sz="3500" dirty="0">
                <a:effectLst/>
                <a:latin typeface="+mn-lt"/>
              </a:rPr>
              <a:t>. </a:t>
            </a:r>
            <a:endParaRPr lang="vi-VN" sz="3500" dirty="0">
              <a:effectLst/>
              <a:latin typeface="+mn-lt"/>
            </a:endParaRPr>
          </a:p>
          <a:p>
            <a:pPr marR="0" lvl="0"/>
            <a:endParaRPr lang="vi-VN" sz="3500" b="1" dirty="0">
              <a:effectLst/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5B166-C6B1-38F1-D38E-FE662A55DB1C}"/>
              </a:ext>
            </a:extLst>
          </p:cNvPr>
          <p:cNvSpPr txBox="1"/>
          <p:nvPr/>
        </p:nvSpPr>
        <p:spPr>
          <a:xfrm>
            <a:off x="367937" y="3793699"/>
            <a:ext cx="175260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en-US" sz="3500" b="1" dirty="0" err="1">
                <a:effectLst/>
                <a:latin typeface="+mn-lt"/>
              </a:rPr>
              <a:t>Đóng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góp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cho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đề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tài</a:t>
            </a:r>
            <a:r>
              <a:rPr lang="en-US" sz="3500" b="1" dirty="0">
                <a:effectLst/>
                <a:latin typeface="+mn-lt"/>
              </a:rPr>
              <a:t>:</a:t>
            </a:r>
            <a:endParaRPr lang="en-US" sz="3500" dirty="0">
              <a:effectLst/>
              <a:latin typeface="+mn-lt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3500" b="1" dirty="0">
                <a:effectLst/>
                <a:latin typeface="+mn-lt"/>
              </a:rPr>
              <a:t>EDUCAUSE &amp; ScienceDirect (</a:t>
            </a:r>
            <a:r>
              <a:rPr lang="en-US" sz="3500" b="1" dirty="0" err="1">
                <a:effectLst/>
                <a:latin typeface="+mn-lt"/>
              </a:rPr>
              <a:t>Điểm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cao</a:t>
            </a:r>
            <a:r>
              <a:rPr lang="en-US" sz="3500" b="1" dirty="0">
                <a:effectLst/>
                <a:latin typeface="+mn-lt"/>
              </a:rPr>
              <a:t> </a:t>
            </a:r>
            <a:r>
              <a:rPr lang="en-US" sz="3500" b="1" dirty="0" err="1">
                <a:effectLst/>
                <a:latin typeface="+mn-lt"/>
              </a:rPr>
              <a:t>nhất</a:t>
            </a:r>
            <a:r>
              <a:rPr lang="en-US" sz="3500" b="1" dirty="0">
                <a:effectLst/>
                <a:latin typeface="+mn-lt"/>
              </a:rPr>
              <a:t> 24-25pt):</a:t>
            </a:r>
            <a:r>
              <a:rPr lang="en-US" sz="3500" dirty="0">
                <a:effectLst/>
                <a:latin typeface="+mn-lt"/>
              </a:rPr>
              <a:t> Cung </a:t>
            </a:r>
            <a:r>
              <a:rPr lang="en-US" sz="3500" dirty="0" err="1">
                <a:effectLst/>
                <a:latin typeface="+mn-lt"/>
              </a:rPr>
              <a:t>cấp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cơ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sở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lý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luận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và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bằng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chứng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định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lượng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về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hiệu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quả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của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công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cụ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tương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tác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và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cá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nhân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hóa</a:t>
            </a:r>
            <a:r>
              <a:rPr lang="en-US" sz="3500" dirty="0">
                <a:effectLst/>
                <a:latin typeface="+mn-lt"/>
              </a:rPr>
              <a:t>.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3500" b="1" dirty="0">
                <a:effectLst/>
                <a:latin typeface="+mn-lt"/>
              </a:rPr>
              <a:t>UNESCO:</a:t>
            </a:r>
            <a:r>
              <a:rPr lang="en-US" sz="3500" dirty="0">
                <a:effectLst/>
                <a:latin typeface="+mn-lt"/>
              </a:rPr>
              <a:t> Định </a:t>
            </a:r>
            <a:r>
              <a:rPr lang="en-US" sz="3500" dirty="0" err="1">
                <a:effectLst/>
                <a:latin typeface="+mn-lt"/>
              </a:rPr>
              <a:t>hướng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chính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sách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và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tầm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nhìn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vĩ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mô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về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giáo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dục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hòa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nhập</a:t>
            </a:r>
            <a:r>
              <a:rPr lang="en-US" sz="3500" dirty="0">
                <a:effectLst/>
                <a:latin typeface="+mn-lt"/>
              </a:rPr>
              <a:t>. 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US" sz="3500" b="1" dirty="0">
                <a:effectLst/>
                <a:latin typeface="+mn-lt"/>
              </a:rPr>
              <a:t>Harvard &amp; </a:t>
            </a:r>
            <a:r>
              <a:rPr lang="en-US" sz="3500" b="1" dirty="0" err="1">
                <a:effectLst/>
                <a:latin typeface="+mn-lt"/>
              </a:rPr>
              <a:t>EdSurge</a:t>
            </a:r>
            <a:r>
              <a:rPr lang="en-US" sz="3500" b="1" dirty="0">
                <a:effectLst/>
                <a:latin typeface="+mn-lt"/>
              </a:rPr>
              <a:t>:</a:t>
            </a:r>
            <a:r>
              <a:rPr lang="en-US" sz="3500" dirty="0">
                <a:effectLst/>
                <a:latin typeface="+mn-lt"/>
              </a:rPr>
              <a:t> Cung </a:t>
            </a:r>
            <a:r>
              <a:rPr lang="en-US" sz="3500" dirty="0" err="1">
                <a:effectLst/>
                <a:latin typeface="+mn-lt"/>
              </a:rPr>
              <a:t>cấp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góc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nhìn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về</a:t>
            </a:r>
            <a:r>
              <a:rPr lang="en-US" sz="3500" dirty="0">
                <a:effectLst/>
                <a:latin typeface="+mn-lt"/>
              </a:rPr>
              <a:t> khoa </a:t>
            </a:r>
            <a:r>
              <a:rPr lang="en-US" sz="3500" dirty="0" err="1">
                <a:effectLst/>
                <a:latin typeface="+mn-lt"/>
              </a:rPr>
              <a:t>học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nhận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thức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và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khảo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sát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thực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tiễn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áp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dụng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công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cụ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đa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en-US" sz="3500" dirty="0" err="1">
                <a:effectLst/>
                <a:latin typeface="+mn-lt"/>
              </a:rPr>
              <a:t>phương</a:t>
            </a:r>
            <a:r>
              <a:rPr lang="en-US" sz="3500" dirty="0">
                <a:effectLst/>
                <a:latin typeface="+mn-lt"/>
              </a:rPr>
              <a:t> </a:t>
            </a:r>
            <a:r>
              <a:rPr lang="vi-VN" sz="3500" dirty="0">
                <a:effectLst/>
                <a:latin typeface="+mn-lt"/>
              </a:rPr>
              <a:t>tiện</a:t>
            </a:r>
            <a:endParaRPr lang="en-US" sz="360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endParaRPr lang="en-US" sz="3500" dirty="0">
              <a:effectLst/>
              <a:latin typeface="Google Sans Text"/>
            </a:endParaRPr>
          </a:p>
        </p:txBody>
      </p:sp>
      <p:sp>
        <p:nvSpPr>
          <p:cNvPr id="15" name="TextBox 14">
            <a:hlinkClick r:id="rId3"/>
            <a:hlinkHover r:id="rId3"/>
            <a:extLst>
              <a:ext uri="{FF2B5EF4-FFF2-40B4-BE49-F238E27FC236}">
                <a16:creationId xmlns:a16="http://schemas.microsoft.com/office/drawing/2014/main" id="{423CF3BB-6FBA-01AC-B543-54D5D0D3F5DD}"/>
              </a:ext>
            </a:extLst>
          </p:cNvPr>
          <p:cNvSpPr txBox="1"/>
          <p:nvPr/>
        </p:nvSpPr>
        <p:spPr>
          <a:xfrm>
            <a:off x="152400" y="7003552"/>
            <a:ext cx="15849600" cy="237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vi-VN" sz="8120" b="1" dirty="0" err="1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Video</a:t>
            </a:r>
            <a:r>
              <a:rPr lang="vi-VN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tham khảo nói về chủ đề này</a:t>
            </a:r>
          </a:p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3"/>
              </a:rPr>
              <a:t>https://youtu.be/srAxlTbg6uQ</a:t>
            </a:r>
            <a:endParaRPr lang="en-US" sz="350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  <p:extLst>
      <p:ext uri="{BB962C8B-B14F-4D97-AF65-F5344CB8AC3E}">
        <p14:creationId xmlns:p14="http://schemas.microsoft.com/office/powerpoint/2010/main" val="345695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97AC-1938-FACD-EAFC-13F2ACBC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7C3E92-1499-B16A-A08E-616B6818C515}"/>
              </a:ext>
            </a:extLst>
          </p:cNvPr>
          <p:cNvSpPr/>
          <p:nvPr/>
        </p:nvSpPr>
        <p:spPr>
          <a:xfrm rot="-5400000">
            <a:off x="4891788" y="-5084273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FA72C0E-3056-5E43-BC97-9E7DA5123AA1}"/>
              </a:ext>
            </a:extLst>
          </p:cNvPr>
          <p:cNvSpPr txBox="1"/>
          <p:nvPr/>
        </p:nvSpPr>
        <p:spPr>
          <a:xfrm>
            <a:off x="2971800" y="2857500"/>
            <a:ext cx="11851631" cy="373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4"/>
              </a:lnSpc>
              <a:spcBef>
                <a:spcPct val="0"/>
              </a:spcBef>
            </a:pPr>
            <a:r>
              <a:rPr lang="vi-VN" sz="8120" b="1" dirty="0">
                <a:solidFill>
                  <a:srgbClr val="1C3D8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Cảm ơn Thầy và các bạn đã tập trung theo dõi và lắng nghe</a:t>
            </a:r>
            <a:endParaRPr lang="en-US" sz="8120" b="1" dirty="0">
              <a:solidFill>
                <a:srgbClr val="1C3D8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5C43B5D-5561-6B71-1B81-82E3F0C36463}"/>
              </a:ext>
            </a:extLst>
          </p:cNvPr>
          <p:cNvSpPr txBox="1"/>
          <p:nvPr/>
        </p:nvSpPr>
        <p:spPr>
          <a:xfrm>
            <a:off x="17598671" y="9543555"/>
            <a:ext cx="322064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3065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796</Words>
  <Application>Microsoft Office PowerPoint</Application>
  <PresentationFormat>Custom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Google Sans Text</vt:lpstr>
      <vt:lpstr>Times New Roman Bold</vt:lpstr>
      <vt:lpstr>Times New Roman</vt:lpstr>
      <vt:lpstr>Calibri</vt:lpstr>
      <vt:lpstr>Varela Round</vt:lpstr>
      <vt:lpstr>Times New Roman Italics</vt:lpstr>
      <vt:lpstr>Gliker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công cụ đa phương tiện đang thay đổi giáo dục như thế nào</dc:title>
  <dc:creator>Anh Kiệt</dc:creator>
  <cp:lastModifiedBy>Kiet Anh</cp:lastModifiedBy>
  <cp:revision>4</cp:revision>
  <dcterms:created xsi:type="dcterms:W3CDTF">2006-08-16T00:00:00Z</dcterms:created>
  <dcterms:modified xsi:type="dcterms:W3CDTF">2026-10-16T13:30:15Z</dcterms:modified>
  <dc:identifier>DAHYJtvMu5o</dc:identifier>
</cp:coreProperties>
</file>